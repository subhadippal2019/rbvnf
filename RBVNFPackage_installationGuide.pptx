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DF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4"/>
  </p:normalViewPr>
  <p:slideViewPr>
    <p:cSldViewPr snapToGrid="0">
      <p:cViewPr varScale="1">
        <p:scale>
          <a:sx n="102" d="100"/>
          <a:sy n="102" d="100"/>
        </p:scale>
        <p:origin x="9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16:19:11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0 279 24575,'0'78'0,"0"1"0,5 17 0,1-13 0,6-61 0,-1-5 0,5 5 0,-4-11 0,3 5 0,6-1 0,7 2 0,-4 0 0,8-1 0,-5 0 0,-7-4 0,11 5 0,-14-12 0,6 6 0,48 0 0,-42-4 0,45 3 0,-55-10 0,2 0 0,1 0 0,-11 0 0,11 0 0,-11 0 0,5 0 0,-6-4 0,6 3 0,-4-8 0,3 3 0,-4-4 0,-1 0 0,0-1 0,0 1 0,1 0 0,-1 0 0,6-1 0,-5 0 0,5 1 0,0-1 0,-5 1 0,5-1 0,-6 1 0,6-1 0,-4 5 0,4-3 0,-6 3 0,6 0 0,-5-3 0,5 8 0,-6-8 0,6 8 0,-4-8 0,3 7 0,-4-2 0,-1-1 0,6 4 0,-5-3 0,11 4 0,-5 0 0,5 0 0,1 0 0,0 0 0,-1 0 0,1 0 0,0 0 0,-1 5 0,1 1 0,-6 5 0,5 5 0,-10 1 0,9 6 0,-8 0 0,4 6 0,-5 2 0,0 6 0,0-6 0,0 4 0,0-4 0,0 0 0,-5-2 0,-2-12 0,-5-1 0,0-6 0,4 0 0,-2 0 0,2 1 0,-4-10 0,0-6 0,0-12 0,0-5 0,0-7 0,0 5 0,0-12 0,0 12 0,0-12 0,0 6 0,0-1 0,0 2 0,5 6 0,-4 6 0,9 1 0,-9 6 0,8 0 0,-8-1 0,8 1 0,-7 0 0,7 4 0,-4-3 0,6 8 0,-1-4 0,0 1 0,6 3 0,8-4 0,0 5 0,5 0 0,0 0 0,-5 0 0,6 0 0,-1 0 0,-5 0 0,5 0 0,-6 0 0,0 0 0,-1 0 0,-5 0 0,5 0 0,-5 0 0,6 0 0,-1 0 0,-5-4 0,5 2 0,-11-7 0,11 8 0,-11-8 0,5 3 0,-6 1 0,0-4 0,-4 3 0,-1-4 0,-5-5 0,0 3 0,5-9 0,-4 4 0,4-6 0,-5 0 0,0-6 0,0 5 0,0-5 0,0 6 0,0 0 0,0 1 0,0-1 0,0 0 0,0 6 0,-5 1 0,4 6 0,-3-6 0,-1 5 0,4-5 0,-4 6 0,1 0 0,3-1 0,-8 1 0,8 0 0,-8 1 0,8-1 0,-8 0 0,8-6 0,-8 5 0,4-5 0,-1 6 0,-3 0 0,8 0 0,-8 4 0,8-3 0,-4 8 0,5-3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16:19:13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5935 112 24575,'-34'0'0,"3"0"0,-39 0 0,1 0 0,7 0 0,-5 0-1320,0 0 1,-3 0 1319,-21 0 0,-3 0 0,0 0 0,-1 0-655,29 0 1,-2 0 0,0 0 654,-3 0 0,-1 0 0,-1 0 0,0 0 0,0 0 0,-1 0 0,-3 0 0,-2 0 0,1 0 0,4 0 0,1 0 0,0 0 0,1 0 0,0 0 0,0 0 0,4 0 0,1 0 0,1 0-810,-29 0 1,1 0 809,2 0 0,0 0 0,-2 0 0,3 0 0,10 0 0,-1 0 0,-15 0 0,-1 0 0,16 0 0,1 0 0,-6 0 0,2 0-461,17 1 1,2-2 460,-4-3 0,2 0 0,12 4 0,1-2 0,-9-5 0,-1-1 448,5 3 0,2 0-448,3-2 0,2-2 0,0 1 0,1 0 2310,-33-7-2310,2 6 0,18-4 1879,3 12-1879,8-5 1272,7 6-1272,-5 0 771,12 0-771,-4 0 14,13 0-14,-5 0 0,5 11 0,-8 10 0,0 12 0,-1 8 0,-2 8 0,-1 8 0,-1 3 0,0 12 0,0-6 0,0 1 0,0 5 0,0-5 0,8-3 0,-5-7 0,5-3 0,2-12 0,0 12 0,9-15 0,-6 0 0,10-3 0,-7-10 0,10 3 0,0-7 0,2 1 0,5-6 0,0-1 0,5-6 0,-3 1 0,8-1 0,-3 0 0,-1-4 0,4 3 0,-4-8 0,5 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16:19:15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24575,'0'9'0,"0"1"0,0 0 0,0 0 0,0 1 0,0-1 0,0 6 0,0-5 0,0 10 0,0-9 0,0 9 0,0-9 0,0 9 0,0-4 0,0 0 0,0 11 0,0-9 0,0 5 0,0-3 0,0-4 0,0 6 0,0-1 0,0-5 0,0 5 0,0-11 0,0 5 0,0-6 0,0 1 0,0-1 0,4 0 0,-3 0 0,3-1 0,1 1 0,-4 0 0,3 0 0,-4-1 0,4-3 0,1-2 0,5-4 0,0 0 0,6-5 0,7 4 0,2-5 0,18 0 0,-11-1 0,21-6 0,-14 0 0,13 6 0,-5-4 0,7 3 0,-7-5 0,-2 0 0,-1 0 0,-4 0 0,4 1 0,-6-6 0,-1 4 0,0-4 0,1 0 0,-8 5 0,6-5 0,-12 6 0,0 1 0,-3 5 0,-10 1 0,5 1 0,-6 3 0,0-4 0,-4 1 0,-2 3 0,-4-3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16:19:17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8549 1825 24575,'-29'0'0,"-14"0"0,-41 0 0,5 0 0,-7 0-2969,-4 0 1,-4 0 2968,12 0 0,-4 0 0,4 0 0,-8 0 0,0 0 0,15 0 0,-4 0 0,-3 0 0,6 0 0,-3 0 0,-2 0 0,2 0-786,-20 0 1,1 0 0,-1 0 785,18 0 0,-3 0 0,2 0 0,3 0 0,-10 0 0,5 0 0,2 0-145,-17 0 0,1 0 145,20 0 0,-1 0 0,1 0 0,4 0 0,2 0 0,2 0 0,-19 0 0,2 0-591,-12 0 0,2 0 591,22 0 0,0 0 0,-16 0 0,0 0 0,17 0 0,2 0 609,-8 0 0,3 0-609,21 0 0,0 0 0,-10 0 0,-3 0 0,-7 0 0,0 0 839,6 1 1,-1-2-840,-20-2 0,2-2 0,22 1 0,2-2 0,-6-6 0,-2-2 0,2 1 0,0-1 0,-2-8 0,2 0 633,15 8 1,0-1-634,-7-8 0,2-2 0,13 9 0,-1-2 0,-28-13 0,-1-2 0,20 7 0,0 0 0,-18-5 0,-1-1 0,18 3 0,0-1 0,-6 0 0,-2-2-138,-6-8 0,-2-2 138,-5-1 0,-1-2 0,-3-2 0,1-3 0,25 13 0,-1 0 0,4 1 0,-10-2 0,1 0-96,-9-8 1,2 1 95,19 15 0,1 1 0,-11-6 0,1 0 235,5 5 0,3 0-235,2-3 0,1 1 774,-35-10-774,5-10 0,9 21 0,20-3 2054,-9 6-2054,21 3 1413,-5 5-1413,6-3 1069,7 9-1069,2-3 288,7 6-288,-1-1 0,6 1 0,-4 0 0,9 1 0,-4 4 0,0-4 0,5 4 0,-10-5 0,9 5 0,-9-4 0,9 5 0,-4-6 0,1 0 0,3 5 0,-9-4 0,9 4 0,-4-4 0,6-1 0,0 6 0,0-4 0,-1 3 0,1-4 0,5 4 0,0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16:19:19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598 0 24575,'-15'0'0,"-2"0"0,0 0 0,-11 0 0,9 0 0,-16 0 0,11 0 0,-12 6 0,6 1 0,-1 5 0,-5 0 0,12-1 0,-5 6 0,6-4 0,-6 4 0,5-6 0,-5 1 0,6-1 0,6-4 0,-4 3 0,4-4 0,-1 0 0,3-1 0,4 0 0,1-4 0,0 4 0,5-1 0,0 1 0,9 0 0,2 4 0,4-4 0,0 11 0,6 1 0,3 12 0,4-4 0,8 12 0,-5-6 0,6 8 0,-7-2 0,7 2 0,-11-1 0,9 0 0,-16-7 0,3-2 0,-6-6 0,1 0 0,-2-6 0,1-2 0,0 1 0,-1-4 0,1 4 0,-5-6 0,3 6 0,-3-5 0,0 5 0,3-6 0,-8 0 0,9 1 0,-9-1 0,8-4 0,-8 3 0,3-4 0,-4 5 0,5-5 0,-4 0 0,3-5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16:20:08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16:23:12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9802 2 24575,'-68'0'0,"20"0"0,-6 0 0,-22 0 0,-9 0-2332,11 0 1,-5 0-1,-2 0 2332,-3 0 0,-2 0 0,-3 0-978,8 0 1,-3 0 0,-1 0 0,-2 0 977,-8 0 0,-2 0 0,-1 0 0,-1 0 0,16 0 0,-1 0 0,0 0 0,-1 0 0,-1 0-367,-7 0 1,-2 0 0,0 0-1,0 0 1,-1 0 366,-1 0 0,0 0 0,-1 0 0,0 0 0,0 0-387,14 0 0,-2 0 0,1 0 0,0 0 1,3 0-1,2 0 387,-18 0 0,4 0 0,1 0 0,-3 0-108,12-1 1,-3 1 0,0 0 0,1 0-1,4 1 108,-5 1 0,5 0 0,-1 2 0,-1 0 0,-8 1 0,-2 1 0,0 1 0,-1-1 0,-3 1 0,-1-1 0,1 1 0,2 2 0,12 1 0,3 2 0,0 0 0,1-1 0,4-2 0,1 0 0,0 0 0,1-1 343,-17 4 1,1-1 0,2 2-344,9 0 0,2 2 0,1-4 0,3-5 0,1-3 0,1 2 960,-24 13 1,2-1-961,0-10 0,1-1 0,5 7 0,4 1 1376,18-5 1,2-1-1377,-11 1 0,2 0 0,21-1 0,1 0 0,-8-3 0,-1 0 1777,6-2 1,1 1-1778,-42 3 0,9-5 0,3 11 2619,17-11-2619,2 11 2158,9-6-2158,0 1 1076,0 4-1076,8-11 481,1 5-481,8 0 0,-1-5 0,1 5 0,6-1 0,-4-4 0,10 9 0,-4-4 0,0 6 0,5-1 0,-5 1 0,-1 0 0,6 0 0,-5 4 0,0-3 0,5 9 0,-5-4 0,6 0 0,1 3 0,-7-3 0,4 0 0,-4 5 0,7-6 0,-8 1 0,6 4 0,-5-9 0,0 9 0,5-9 0,-5 4 0,6 0 0,-6-4 0,5 3 0,-6-4 0,8-1 0,-1 1 0,0-1 0,1 0 0,-1 1 0,0-1 0,1-5 0,-1 4 0,0-8 0,1 8 0,-1-9 0,6 8 0,-4-7 0,3 7 0,1-8 0,1 9 0,1-9 0,3 4 0,-4-1 0,6-3 0,0 9 0,0-9 0,0 3 0,0-4 0,13 0 0,27 0 0,-13 0 0,15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16:23:14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1 24575,'0'15'0,"0"-4"0,0 11 0,0-11 0,0 5 0,0-6 0,0 0 0,0 0 0,0 0 0,0 6 0,-5 1 0,-1 0 0,-5 4 0,0-4 0,0 0 0,5-1 0,-3-6 0,8 0 0,-3 1 0,4-1 0,0 0 0,-5-1 0,4 1 0,-7 0 0,6 0 0,-7 0 0,8 1 0,-8-1 0,8 0 0,-8-4 0,12-2 0,-1-4 0,13 0 0,2 0 0,20 0 0,-5 0 0,13 0 0,0 0 0,2 0 0,-1 0 0,-1 0 0,-8 0 0,-6 0 0,-2 0 0,-12 0 0,4 0 0,-9 0 0,4 0 0,-6 0 0,-5 0 0,-1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16:23:16.2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2494 1064 24575,'-22'0'0,"-2"0"0,-21-12 0,-2-3 0,-7-12 0,-9-8 0,-1-1 0,-12-17-271,29 33 1,0-1 270,6-9 0,0 1 0,-36 2 0,-3-16 0,11 13 0,-17-9 0,4 0 0,9 10 0,8 2 0,3 6 0,8 0 0,0 1 0,-1 7 0,9 0 0,-7-1 541,14 2-541,-6-1 0,8 6 0,0-4 0,6 4 0,-5-5 0,6 6 0,-1-5 0,2 10 0,0-10 0,-2 4 0,0-4 0,2 4 0,0-4 0,5 5 0,-5-6 0,6 1 0,0-1 0,1-4 0,-8 3 0,6-4 0,-5 6 0,6-1 0,1-4 0,-8 3 0,6-4 0,-5 5 0,6 1 0,-6-1 0,5 1 0,-5-1 0,6 1 0,0-1 0,6-4 0,-5 3 0,10-2 0,-9 8 0,9-2 0,1 4 0,2-6 0,4 6 0,-1 0 0,2 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25T16:23:18.1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0 24575,'-10'0'0,"0"0"0,0 0 0,0 0 0,-6 0 0,5 0 0,-11 0 0,11 0 0,-5 0 0,6 0 0,0 0 0,0 0 0,0 0 0,0 0 0,-4 0 0,3 0 0,-3 0 0,4 0 0,0 0 0,-6 0 0,-1 5 0,-6 2 0,6 4 0,-4 0 0,9-1 0,-3 1 0,4-1 0,1-4 0,9 6 0,2 0 0,10 16 0,1-4 0,0 11 0,6 4 0,-4-1 0,5 7 0,-7-14 0,1 5 0,-2-12 0,1 12 0,0-12 0,-1-1 0,-5-1 0,-1-11 0,-5 5 0,4-6 0,-3 0 0,4 1 0,-5-1 0,0 0 0,0-5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4EAE-4E6F-8842-8B4C-BDD12F90844A}" type="datetimeFigureOut">
              <a:rPr lang="en-US" smtClean="0"/>
              <a:t>3/30/25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D15B-79E4-9040-912C-FC05C194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29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4EAE-4E6F-8842-8B4C-BDD12F90844A}" type="datetimeFigureOut">
              <a:rPr lang="en-US" smtClean="0"/>
              <a:t>3/30/25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D15B-79E4-9040-912C-FC05C194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487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4EAE-4E6F-8842-8B4C-BDD12F90844A}" type="datetimeFigureOut">
              <a:rPr lang="en-US" smtClean="0"/>
              <a:t>3/30/25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D15B-79E4-9040-912C-FC05C194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69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4EAE-4E6F-8842-8B4C-BDD12F90844A}" type="datetimeFigureOut">
              <a:rPr lang="en-US" smtClean="0"/>
              <a:t>3/30/25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D15B-79E4-9040-912C-FC05C194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5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4EAE-4E6F-8842-8B4C-BDD12F90844A}" type="datetimeFigureOut">
              <a:rPr lang="en-US" smtClean="0"/>
              <a:t>3/30/25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D15B-79E4-9040-912C-FC05C194B56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309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4EAE-4E6F-8842-8B4C-BDD12F90844A}" type="datetimeFigureOut">
              <a:rPr lang="en-US" smtClean="0"/>
              <a:t>3/30/25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D15B-79E4-9040-912C-FC05C194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57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4EAE-4E6F-8842-8B4C-BDD12F90844A}" type="datetimeFigureOut">
              <a:rPr lang="en-US" smtClean="0"/>
              <a:t>3/30/25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D15B-79E4-9040-912C-FC05C194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4EAE-4E6F-8842-8B4C-BDD12F90844A}" type="datetimeFigureOut">
              <a:rPr lang="en-US" smtClean="0"/>
              <a:t>3/30/25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D15B-79E4-9040-912C-FC05C194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0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8964EAE-4E6F-8842-8B4C-BDD12F90844A}" type="datetimeFigureOut">
              <a:rPr lang="en-US" smtClean="0"/>
              <a:t>3/30/25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D15B-79E4-9040-912C-FC05C194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43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4EAE-4E6F-8842-8B4C-BDD12F90844A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D15B-79E4-9040-912C-FC05C194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09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4EAE-4E6F-8842-8B4C-BDD12F90844A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8D15B-79E4-9040-912C-FC05C194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7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8964EAE-4E6F-8842-8B4C-BDD12F90844A}" type="datetimeFigureOut">
              <a:rPr lang="en-US" smtClean="0"/>
              <a:t>3/30/25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D48D15B-79E4-9040-912C-FC05C194B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44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84C34-779A-0276-A42C-E41281125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901874"/>
            <a:ext cx="8991600" cy="3130790"/>
          </a:xfrm>
        </p:spPr>
        <p:txBody>
          <a:bodyPr>
            <a:normAutofit/>
          </a:bodyPr>
          <a:lstStyle/>
          <a:p>
            <a:r>
              <a:rPr lang="en-US" dirty="0"/>
              <a:t>Instruction for </a:t>
            </a:r>
            <a:br>
              <a:rPr lang="en-US" dirty="0"/>
            </a:br>
            <a:r>
              <a:rPr lang="en-US" dirty="0"/>
              <a:t>Installing the </a:t>
            </a:r>
            <a:br>
              <a:rPr lang="en-US" dirty="0"/>
            </a:br>
            <a:r>
              <a:rPr lang="en-US" dirty="0"/>
              <a:t>R-Package ‘RBVNF’</a:t>
            </a:r>
            <a:br>
              <a:rPr lang="en-US" dirty="0"/>
            </a:br>
            <a:r>
              <a:rPr lang="en-US" sz="2000" dirty="0"/>
              <a:t>for Bayesian Regression for Directional Responses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203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5FB7-8F95-872E-978B-DE0E34CD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‘RBVNF’ for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A8ADD-45B7-4F9E-2257-1D4B4BC09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13" y="2638044"/>
            <a:ext cx="9444037" cy="3548444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800" dirty="0" err="1">
                <a:solidFill>
                  <a:schemeClr val="tx1"/>
                </a:solidFill>
              </a:rPr>
              <a:t>install.packages</a:t>
            </a:r>
            <a:r>
              <a:rPr lang="en-US" sz="2800" dirty="0">
                <a:solidFill>
                  <a:schemeClr val="tx1"/>
                </a:solidFill>
              </a:rPr>
              <a:t>("</a:t>
            </a:r>
            <a:r>
              <a:rPr lang="en-US" sz="2800" dirty="0" err="1">
                <a:solidFill>
                  <a:schemeClr val="tx1"/>
                </a:solidFill>
              </a:rPr>
              <a:t>devtools</a:t>
            </a:r>
            <a:r>
              <a:rPr lang="en-US" sz="2800" dirty="0">
                <a:solidFill>
                  <a:schemeClr val="tx1"/>
                </a:solidFill>
              </a:rPr>
              <a:t>")</a:t>
            </a:r>
          </a:p>
          <a:p>
            <a:r>
              <a:rPr lang="en-US" sz="2800" dirty="0">
                <a:solidFill>
                  <a:schemeClr val="tx1"/>
                </a:solidFill>
              </a:rPr>
              <a:t>library(</a:t>
            </a:r>
            <a:r>
              <a:rPr lang="en-US" sz="2800" dirty="0" err="1">
                <a:solidFill>
                  <a:schemeClr val="tx1"/>
                </a:solidFill>
              </a:rPr>
              <a:t>devtools</a:t>
            </a:r>
            <a:r>
              <a:rPr lang="en-US" sz="2800" dirty="0">
                <a:solidFill>
                  <a:schemeClr val="tx1"/>
                </a:solidFill>
              </a:rPr>
              <a:t>)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</a:rPr>
              <a:t># The R package (Beta Version)</a:t>
            </a:r>
          </a:p>
          <a:p>
            <a:r>
              <a:rPr lang="en-US" sz="2800" b="0" i="0" dirty="0" err="1">
                <a:solidFill>
                  <a:schemeClr val="tx1"/>
                </a:solidFill>
                <a:effectLst/>
                <a:latin typeface="CircularXX-Regular"/>
              </a:rPr>
              <a:t>install_github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CircularXX-Regular"/>
              </a:rPr>
              <a:t>("subhadippal2019/RBVNF")</a:t>
            </a:r>
          </a:p>
          <a:p>
            <a:r>
              <a:rPr lang="en-US" sz="2800" dirty="0">
                <a:solidFill>
                  <a:schemeClr val="tx1"/>
                </a:solidFill>
                <a:latin typeface="CircularXX-Regular"/>
              </a:rPr>
              <a:t>library(RBVNF)</a:t>
            </a:r>
            <a:endParaRPr lang="en-US" sz="2800" b="0" i="0" dirty="0">
              <a:solidFill>
                <a:schemeClr val="tx1"/>
              </a:solidFill>
              <a:effectLst/>
              <a:latin typeface="CircularXX-Regular"/>
            </a:endParaRPr>
          </a:p>
          <a:p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218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48F5F-BAF9-7576-E265-0B909E94E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700" y="333092"/>
            <a:ext cx="11170508" cy="682093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 and Load the following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6A48B-8A75-8DE0-8544-CC22B01E0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0" y="1157284"/>
            <a:ext cx="7743825" cy="5400675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en-US" sz="2400" dirty="0"/>
              <a:t>library(</a:t>
            </a:r>
            <a:r>
              <a:rPr lang="en-US" sz="2400" dirty="0" err="1"/>
              <a:t>gsl</a:t>
            </a:r>
            <a:r>
              <a:rPr lang="en-US" sz="2400" dirty="0"/>
              <a:t>)</a:t>
            </a:r>
          </a:p>
          <a:p>
            <a:r>
              <a:rPr lang="en-US" sz="2400" dirty="0"/>
              <a:t>library(Bessel)</a:t>
            </a:r>
          </a:p>
          <a:p>
            <a:r>
              <a:rPr lang="en-US" sz="2400" dirty="0"/>
              <a:t>library(</a:t>
            </a:r>
            <a:r>
              <a:rPr lang="en-US" sz="2400" dirty="0" err="1"/>
              <a:t>ghyp</a:t>
            </a:r>
            <a:r>
              <a:rPr lang="en-US" sz="2400" dirty="0"/>
              <a:t>)</a:t>
            </a:r>
          </a:p>
          <a:p>
            <a:r>
              <a:rPr lang="en-US" sz="2400" dirty="0"/>
              <a:t>library(ggplot2)</a:t>
            </a:r>
          </a:p>
          <a:p>
            <a:r>
              <a:rPr lang="en-US" sz="2400" dirty="0"/>
              <a:t>library(</a:t>
            </a:r>
            <a:r>
              <a:rPr lang="en-US" sz="2400" dirty="0" err="1"/>
              <a:t>Rfast</a:t>
            </a:r>
            <a:r>
              <a:rPr lang="en-US" sz="2400" dirty="0"/>
              <a:t>)</a:t>
            </a:r>
          </a:p>
          <a:p>
            <a:r>
              <a:rPr lang="en-US" sz="2400" dirty="0"/>
              <a:t>library(</a:t>
            </a:r>
            <a:r>
              <a:rPr lang="en-US" sz="2400" dirty="0" err="1"/>
              <a:t>mvtnorm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>
                <a:solidFill>
                  <a:srgbClr val="0070C0"/>
                </a:solidFill>
              </a:rPr>
              <a:t># The following Libraries are for associated PLOTS </a:t>
            </a:r>
          </a:p>
          <a:p>
            <a:r>
              <a:rPr lang="en-US" sz="2400" dirty="0"/>
              <a:t>library(</a:t>
            </a:r>
            <a:r>
              <a:rPr lang="en-US" sz="2400" dirty="0" err="1"/>
              <a:t>cowplot</a:t>
            </a:r>
            <a:r>
              <a:rPr lang="en-US" sz="2400" dirty="0"/>
              <a:t>)</a:t>
            </a:r>
          </a:p>
          <a:p>
            <a:r>
              <a:rPr lang="en-US" sz="2400" dirty="0"/>
              <a:t>library(grid)</a:t>
            </a:r>
          </a:p>
          <a:p>
            <a:r>
              <a:rPr lang="en-US" sz="2400" dirty="0"/>
              <a:t>library(</a:t>
            </a:r>
            <a:r>
              <a:rPr lang="en-US" sz="2400" dirty="0" err="1"/>
              <a:t>gridExtra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5272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6598-567F-FFDA-8AC0-09C8A1517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2230A7-644B-BA86-E520-78AF1D5CCDF1}"/>
              </a:ext>
            </a:extLst>
          </p:cNvPr>
          <p:cNvSpPr/>
          <p:nvPr/>
        </p:nvSpPr>
        <p:spPr>
          <a:xfrm>
            <a:off x="2085975" y="1214438"/>
            <a:ext cx="7958138" cy="3786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Now the Initial Setup is complete, the r functions are available to be utilized to analyze the data. 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Rest of the slides are some basic testing. </a:t>
            </a:r>
          </a:p>
        </p:txBody>
      </p:sp>
    </p:spTree>
    <p:extLst>
      <p:ext uri="{BB962C8B-B14F-4D97-AF65-F5344CB8AC3E}">
        <p14:creationId xmlns:p14="http://schemas.microsoft.com/office/powerpoint/2010/main" val="164239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D150-9F29-947A-1A9B-6C31B99B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35643"/>
            <a:ext cx="7729728" cy="691114"/>
          </a:xfrm>
        </p:spPr>
        <p:txBody>
          <a:bodyPr>
            <a:normAutofit fontScale="90000"/>
          </a:bodyPr>
          <a:lstStyle/>
          <a:p>
            <a:r>
              <a:rPr lang="en-US" dirty="0"/>
              <a:t>Checking the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9747-7C5F-CF68-DE3A-078D083B6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078065"/>
            <a:ext cx="10358438" cy="90834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1C283B"/>
                </a:solidFill>
                <a:latin typeface="CircularXX-Regular"/>
              </a:rPr>
              <a:t>library(RBVNF)</a:t>
            </a:r>
            <a:endParaRPr lang="en-US" sz="2400" dirty="0"/>
          </a:p>
          <a:p>
            <a:r>
              <a:rPr lang="en-US" sz="2400" dirty="0"/>
              <a:t>help(MCMC_Dir_regression_sampler_V1)</a:t>
            </a: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B57C5-3108-EF69-6B17-ECB3EE97C04C}"/>
              </a:ext>
            </a:extLst>
          </p:cNvPr>
          <p:cNvSpPr txBox="1"/>
          <p:nvPr/>
        </p:nvSpPr>
        <p:spPr>
          <a:xfrm>
            <a:off x="800100" y="3314635"/>
            <a:ext cx="10358438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effectLst/>
                <a:latin typeface="SF Pro Text"/>
              </a:rPr>
              <a:t>library(</a:t>
            </a:r>
            <a:r>
              <a:rPr lang="en-US" sz="2400" b="0" i="0" dirty="0" err="1">
                <a:effectLst/>
                <a:latin typeface="SF Pro Text"/>
              </a:rPr>
              <a:t>Rfast</a:t>
            </a:r>
            <a:r>
              <a:rPr lang="en-US" sz="2400" b="0" i="0" dirty="0">
                <a:effectLst/>
                <a:latin typeface="SF Pro Text"/>
              </a:rPr>
              <a:t>) 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library(Bessel) 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library(</a:t>
            </a:r>
            <a:r>
              <a:rPr lang="en-US" sz="2400" b="0" i="0" dirty="0" err="1">
                <a:effectLst/>
                <a:latin typeface="SF Pro Text"/>
              </a:rPr>
              <a:t>gsl</a:t>
            </a:r>
            <a:r>
              <a:rPr lang="en-US" sz="2400" b="0" i="0" dirty="0">
                <a:effectLst/>
                <a:latin typeface="SF Pro Text"/>
              </a:rPr>
              <a:t>)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 library(</a:t>
            </a:r>
            <a:r>
              <a:rPr lang="en-US" sz="2400" b="0" i="0" dirty="0" err="1">
                <a:effectLst/>
                <a:latin typeface="SF Pro Text"/>
              </a:rPr>
              <a:t>ghyp</a:t>
            </a:r>
            <a:r>
              <a:rPr lang="en-US" sz="2400" b="0" i="0" dirty="0">
                <a:effectLst/>
                <a:latin typeface="SF Pro Text"/>
              </a:rPr>
              <a:t>) 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n</a:t>
            </a:r>
            <a:r>
              <a:rPr lang="en-US" sz="2400" b="0" i="0" dirty="0">
                <a:solidFill>
                  <a:srgbClr val="9A6E3A"/>
                </a:solidFill>
                <a:effectLst/>
                <a:latin typeface="SF Pro Text"/>
              </a:rPr>
              <a:t>=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SF Pro Text"/>
              </a:rPr>
              <a:t>500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SF Pro Text"/>
              </a:rPr>
              <a:t> 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SF Pro Text"/>
              </a:rPr>
              <a:t>#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SF Pro Text"/>
              </a:rPr>
              <a:t>NUmber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SF Pro Text"/>
              </a:rPr>
              <a:t> of the samples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SF Pro Text"/>
              </a:rPr>
              <a:t> 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p=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SF Pro Text"/>
              </a:rPr>
              <a:t>4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SF Pro Text"/>
              </a:rPr>
              <a:t> 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SF Pro Text"/>
              </a:rPr>
              <a:t>#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SF Pro Text"/>
              </a:rPr>
              <a:t>NUmber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SF Pro Text"/>
              </a:rPr>
              <a:t> of the regression covariates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SF Pro Text"/>
              </a:rPr>
              <a:t> 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d=</a:t>
            </a:r>
            <a:r>
              <a:rPr lang="en-US" sz="2400" dirty="0">
                <a:solidFill>
                  <a:srgbClr val="990055"/>
                </a:solidFill>
                <a:latin typeface="SF Pro Text"/>
              </a:rPr>
              <a:t>3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SF Pro Text"/>
              </a:rPr>
              <a:t> 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SF Pro Text"/>
              </a:rPr>
              <a:t># Number of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SF Pro Text"/>
              </a:rPr>
              <a:t>direcions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SF Pro Text"/>
              </a:rPr>
              <a:t> in the </a:t>
            </a:r>
            <a:r>
              <a:rPr lang="en-US" sz="2400" b="0" i="0" dirty="0" err="1">
                <a:solidFill>
                  <a:srgbClr val="708090"/>
                </a:solidFill>
                <a:effectLst/>
                <a:latin typeface="SF Pro Text"/>
              </a:rPr>
              <a:t>direcional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SF Pro Text"/>
              </a:rPr>
              <a:t> data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SF Pro Text"/>
              </a:rPr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13044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D150-9F29-947A-1A9B-6C31B99B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259" y="139775"/>
            <a:ext cx="7729728" cy="691114"/>
          </a:xfrm>
        </p:spPr>
        <p:txBody>
          <a:bodyPr>
            <a:normAutofit fontScale="90000"/>
          </a:bodyPr>
          <a:lstStyle/>
          <a:p>
            <a:r>
              <a:rPr lang="en-US" dirty="0"/>
              <a:t>Running the sampler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8513AB-3B6B-E828-4E8A-53206A22FEC7}"/>
              </a:ext>
            </a:extLst>
          </p:cNvPr>
          <p:cNvSpPr txBox="1"/>
          <p:nvPr/>
        </p:nvSpPr>
        <p:spPr>
          <a:xfrm>
            <a:off x="666749" y="975782"/>
            <a:ext cx="10663239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lang="en-US" sz="2400" b="0" i="0" dirty="0" err="1">
                <a:effectLst/>
                <a:latin typeface="SF Pro Text"/>
              </a:rPr>
              <a:t>data_lst</a:t>
            </a:r>
            <a:r>
              <a:rPr lang="en-US" sz="2400" b="0" i="0" dirty="0">
                <a:effectLst/>
                <a:latin typeface="SF Pro Text"/>
              </a:rPr>
              <a:t> = </a:t>
            </a:r>
            <a:r>
              <a:rPr lang="en-US" sz="2400" b="0" i="0" dirty="0" err="1">
                <a:effectLst/>
                <a:latin typeface="SF Pro Text"/>
              </a:rPr>
              <a:t>Data_generator_vnf_reg</a:t>
            </a:r>
            <a:r>
              <a:rPr lang="en-US" sz="2400" b="0" i="0" dirty="0">
                <a:effectLst/>
                <a:latin typeface="SF Pro Text"/>
              </a:rPr>
              <a:t>(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n=n, </a:t>
            </a:r>
          </a:p>
          <a:p>
            <a:pPr algn="l"/>
            <a:r>
              <a:rPr lang="en-US" sz="2400" dirty="0">
                <a:solidFill>
                  <a:srgbClr val="0070C0"/>
                </a:solidFill>
                <a:latin typeface="SF Pro Text"/>
              </a:rPr>
              <a:t>							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p=p, </a:t>
            </a:r>
          </a:p>
          <a:p>
            <a:pPr algn="l"/>
            <a:r>
              <a:rPr lang="en-US" sz="2400" dirty="0">
                <a:solidFill>
                  <a:srgbClr val="0070C0"/>
                </a:solidFill>
                <a:latin typeface="SF Pro Text"/>
              </a:rPr>
              <a:t>							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d=d,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F Pro Text"/>
              </a:rPr>
              <a:t>concentration_factor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 = 1,</a:t>
            </a:r>
          </a:p>
          <a:p>
            <a:pPr algn="l"/>
            <a:r>
              <a:rPr lang="en-US" sz="2400" dirty="0">
                <a:solidFill>
                  <a:srgbClr val="0070C0"/>
                </a:solidFill>
                <a:latin typeface="SF Pro Text"/>
              </a:rPr>
              <a:t>							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F Pro Text"/>
              </a:rPr>
              <a:t>beta_factor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 = 5</a:t>
            </a:r>
            <a:r>
              <a:rPr lang="en-US" sz="2400" b="0" i="0" dirty="0">
                <a:effectLst/>
                <a:latin typeface="SF Pro Text"/>
              </a:rPr>
              <a:t>) 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Y = </a:t>
            </a:r>
            <a:r>
              <a:rPr lang="en-US" sz="2400" b="0" i="0" dirty="0" err="1">
                <a:effectLst/>
                <a:latin typeface="SF Pro Text"/>
              </a:rPr>
              <a:t>data_lst$Y</a:t>
            </a:r>
            <a:r>
              <a:rPr lang="en-US" sz="2400" b="0" i="0" dirty="0">
                <a:effectLst/>
                <a:latin typeface="SF Pro Text"/>
              </a:rPr>
              <a:t>;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X=</a:t>
            </a:r>
            <a:r>
              <a:rPr lang="en-US" sz="2400" b="0" i="0" dirty="0" err="1">
                <a:effectLst/>
                <a:latin typeface="SF Pro Text"/>
              </a:rPr>
              <a:t>data_lst$X</a:t>
            </a:r>
            <a:endParaRPr lang="en-US" sz="2400" b="0" i="0" dirty="0">
              <a:effectLst/>
              <a:latin typeface="SF Pro Tex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242DA-6161-266E-9628-6591B3B2CCE7}"/>
              </a:ext>
            </a:extLst>
          </p:cNvPr>
          <p:cNvSpPr txBox="1"/>
          <p:nvPr/>
        </p:nvSpPr>
        <p:spPr>
          <a:xfrm>
            <a:off x="621503" y="3573895"/>
            <a:ext cx="10663239" cy="523220"/>
          </a:xfrm>
          <a:prstGeom prst="rect">
            <a:avLst/>
          </a:prstGeom>
          <a:solidFill>
            <a:srgbClr val="FFFF00">
              <a:alpha val="56863"/>
            </a:srgbClr>
          </a:solidFill>
        </p:spPr>
        <p:txBody>
          <a:bodyPr wrap="square">
            <a:spAutoFit/>
          </a:bodyPr>
          <a:lstStyle/>
          <a:p>
            <a:r>
              <a:rPr lang="en-US" sz="2800" b="0" i="0" dirty="0">
                <a:effectLst/>
                <a:latin typeface="SF Pro Text"/>
              </a:rPr>
              <a:t> </a:t>
            </a:r>
            <a:r>
              <a:rPr lang="en-US" sz="2800" b="0" i="0" dirty="0" err="1">
                <a:effectLst/>
                <a:latin typeface="SF Pro Text"/>
              </a:rPr>
              <a:t>lst</a:t>
            </a:r>
            <a:r>
              <a:rPr lang="en-US" sz="2800" b="0" i="0" dirty="0">
                <a:effectLst/>
                <a:latin typeface="SF Pro Text"/>
              </a:rPr>
              <a:t>=MCMC_Dir_regression_sampler_V1(</a:t>
            </a:r>
            <a:r>
              <a:rPr lang="en-US" sz="2800" b="0" i="0" dirty="0">
                <a:solidFill>
                  <a:srgbClr val="0070C0"/>
                </a:solidFill>
                <a:effectLst/>
                <a:latin typeface="SF Pro Text"/>
              </a:rPr>
              <a:t>Y=Y, X=X, </a:t>
            </a:r>
            <a:r>
              <a:rPr lang="en-US" sz="2800" b="0" i="0" dirty="0" err="1">
                <a:solidFill>
                  <a:srgbClr val="0070C0"/>
                </a:solidFill>
                <a:effectLst/>
                <a:latin typeface="SF Pro Text"/>
              </a:rPr>
              <a:t>MCSamplerSize</a:t>
            </a:r>
            <a:r>
              <a:rPr lang="en-US" sz="2800" b="0" i="0" dirty="0">
                <a:solidFill>
                  <a:srgbClr val="0070C0"/>
                </a:solidFill>
                <a:effectLst/>
                <a:latin typeface="SF Pro Text"/>
              </a:rPr>
              <a:t> =100</a:t>
            </a:r>
            <a:r>
              <a:rPr lang="en-US" sz="2800" b="0" i="0" dirty="0">
                <a:effectLst/>
                <a:latin typeface="SF Pro Text"/>
              </a:rPr>
              <a:t>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F0746-4753-79A5-169A-E3A350B4AC16}"/>
              </a:ext>
            </a:extLst>
          </p:cNvPr>
          <p:cNvSpPr txBox="1"/>
          <p:nvPr/>
        </p:nvSpPr>
        <p:spPr>
          <a:xfrm>
            <a:off x="481011" y="4630869"/>
            <a:ext cx="11034713" cy="156966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400" b="0" i="0" dirty="0" err="1">
                <a:effectLst/>
                <a:latin typeface="SF Pro Text"/>
              </a:rPr>
              <a:t>i</a:t>
            </a:r>
            <a:r>
              <a:rPr lang="en-US" sz="2400" b="0" i="0" dirty="0">
                <a:effectLst/>
                <a:latin typeface="SF Pro Text"/>
              </a:rPr>
              <a:t>=1;j= 1 </a:t>
            </a:r>
          </a:p>
          <a:p>
            <a:r>
              <a:rPr lang="en-US" sz="2400" b="0" i="0" dirty="0">
                <a:effectLst/>
                <a:latin typeface="SF Pro Text"/>
              </a:rPr>
              <a:t>library(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ggplot2</a:t>
            </a:r>
            <a:r>
              <a:rPr lang="en-US" sz="2400" b="0" i="0" dirty="0">
                <a:effectLst/>
                <a:latin typeface="SF Pro Text"/>
              </a:rPr>
              <a:t>) </a:t>
            </a:r>
          </a:p>
          <a:p>
            <a:r>
              <a:rPr lang="en-US" sz="2400" b="0" i="0" dirty="0">
                <a:effectLst/>
                <a:latin typeface="SF Pro Text"/>
              </a:rPr>
              <a:t>library(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F Pro Text"/>
              </a:rPr>
              <a:t>cowplot</a:t>
            </a:r>
            <a:r>
              <a:rPr lang="en-US" sz="2400" b="0" i="0" dirty="0">
                <a:effectLst/>
                <a:latin typeface="SF Pro Text"/>
              </a:rPr>
              <a:t>) </a:t>
            </a:r>
          </a:p>
          <a:p>
            <a:r>
              <a:rPr lang="en-US" sz="2400" b="0" i="0" dirty="0" err="1">
                <a:effectLst/>
                <a:latin typeface="SF Pro Text"/>
              </a:rPr>
              <a:t>Plot_MCMC_Diag_Triplet</a:t>
            </a:r>
            <a:r>
              <a:rPr lang="en-US" sz="2400" b="0" i="0" dirty="0">
                <a:effectLst/>
                <a:latin typeface="SF Pro Text"/>
              </a:rPr>
              <a:t>(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F Pro Text"/>
              </a:rPr>
              <a:t>lst$MC$Mc_Beta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[,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F Pro Text"/>
              </a:rPr>
              <a:t>i,j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],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F Pro Text"/>
              </a:rPr>
              <a:t>y_lab_text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 = 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F Pro Text"/>
              </a:rPr>
              <a:t>bquote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(beta[.(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F Pro Text"/>
              </a:rPr>
              <a:t>i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)][.(j)])</a:t>
            </a:r>
            <a:r>
              <a:rPr lang="en-US" sz="2400" b="0" i="0" dirty="0">
                <a:effectLst/>
                <a:latin typeface="SF Pro Text"/>
              </a:rPr>
              <a:t>)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7067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3E4892-AF09-9093-D412-D06728A30879}"/>
              </a:ext>
            </a:extLst>
          </p:cNvPr>
          <p:cNvSpPr/>
          <p:nvPr/>
        </p:nvSpPr>
        <p:spPr>
          <a:xfrm>
            <a:off x="2085975" y="1214438"/>
            <a:ext cx="7958138" cy="3786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Running the Lasso Optimization and </a:t>
            </a:r>
            <a:r>
              <a:rPr lang="en-US" sz="2800" dirty="0" err="1"/>
              <a:t>Crossvalidation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21763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D150-9F29-947A-1A9B-6C31B99B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35643"/>
            <a:ext cx="7729728" cy="691114"/>
          </a:xfrm>
        </p:spPr>
        <p:txBody>
          <a:bodyPr>
            <a:normAutofit fontScale="90000"/>
          </a:bodyPr>
          <a:lstStyle/>
          <a:p>
            <a:r>
              <a:rPr lang="en-US" dirty="0"/>
              <a:t>Checking the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F9747-7C5F-CF68-DE3A-078D083B69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078065"/>
            <a:ext cx="10358438" cy="1201672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1C283B"/>
                </a:solidFill>
                <a:latin typeface="CircularXX-Regular"/>
              </a:rPr>
              <a:t>library(RBVNF)</a:t>
            </a:r>
            <a:endParaRPr lang="en-US" sz="2400" dirty="0"/>
          </a:p>
          <a:p>
            <a:r>
              <a:rPr lang="en-US" sz="2400" dirty="0"/>
              <a:t>help(MCMC_Dir_regression_sampler_V1)</a:t>
            </a:r>
          </a:p>
          <a:p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0B57C5-3108-EF69-6B17-ECB3EE97C04C}"/>
              </a:ext>
            </a:extLst>
          </p:cNvPr>
          <p:cNvSpPr txBox="1"/>
          <p:nvPr/>
        </p:nvSpPr>
        <p:spPr>
          <a:xfrm>
            <a:off x="800100" y="2870104"/>
            <a:ext cx="10358438" cy="3416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endParaRPr lang="en-US" sz="2400" b="0" i="0" dirty="0">
              <a:effectLst/>
              <a:latin typeface="SF Pro Text"/>
            </a:endParaRPr>
          </a:p>
          <a:p>
            <a:pPr algn="l"/>
            <a:r>
              <a:rPr lang="en-US" sz="2400" b="0" i="0" dirty="0">
                <a:effectLst/>
                <a:latin typeface="SF Pro Text"/>
              </a:rPr>
              <a:t>library(</a:t>
            </a:r>
            <a:r>
              <a:rPr lang="en-US" sz="2400" b="0" i="0" dirty="0" err="1">
                <a:effectLst/>
                <a:latin typeface="SF Pro Text"/>
              </a:rPr>
              <a:t>Rfast</a:t>
            </a:r>
            <a:r>
              <a:rPr lang="en-US" sz="2400" b="0" i="0" dirty="0">
                <a:effectLst/>
                <a:latin typeface="SF Pro Text"/>
              </a:rPr>
              <a:t>) 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library(Bessel) 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library(</a:t>
            </a:r>
            <a:r>
              <a:rPr lang="en-US" sz="2400" b="0" i="0" dirty="0" err="1">
                <a:effectLst/>
                <a:latin typeface="SF Pro Text"/>
              </a:rPr>
              <a:t>gsl</a:t>
            </a:r>
            <a:r>
              <a:rPr lang="en-US" sz="2400" b="0" i="0" dirty="0">
                <a:effectLst/>
                <a:latin typeface="SF Pro Text"/>
              </a:rPr>
              <a:t>)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 library(</a:t>
            </a:r>
            <a:r>
              <a:rPr lang="en-US" sz="2400" b="0" i="0" dirty="0" err="1">
                <a:effectLst/>
                <a:latin typeface="SF Pro Text"/>
              </a:rPr>
              <a:t>ghyp</a:t>
            </a:r>
            <a:r>
              <a:rPr lang="en-US" sz="2400" b="0" i="0" dirty="0">
                <a:effectLst/>
                <a:latin typeface="SF Pro Text"/>
              </a:rPr>
              <a:t>) 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n</a:t>
            </a:r>
            <a:r>
              <a:rPr lang="en-US" sz="2400" b="0" i="0" dirty="0">
                <a:solidFill>
                  <a:srgbClr val="9A6E3A"/>
                </a:solidFill>
                <a:effectLst/>
                <a:latin typeface="SF Pro Text"/>
              </a:rPr>
              <a:t>=</a:t>
            </a:r>
            <a:r>
              <a:rPr lang="en-US" sz="2400" dirty="0">
                <a:solidFill>
                  <a:srgbClr val="990055"/>
                </a:solidFill>
                <a:latin typeface="SF Pro Text"/>
              </a:rPr>
              <a:t>10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SF Pro Text"/>
              </a:rPr>
              <a:t>00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SF Pro Text"/>
              </a:rPr>
              <a:t> 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SF Pro Text"/>
              </a:rPr>
              <a:t># Number of the samples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SF Pro Text"/>
              </a:rPr>
              <a:t> 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p=</a:t>
            </a:r>
            <a:r>
              <a:rPr lang="en-US" sz="2400" b="0" i="0" dirty="0">
                <a:solidFill>
                  <a:srgbClr val="990055"/>
                </a:solidFill>
                <a:effectLst/>
                <a:latin typeface="SF Pro Text"/>
              </a:rPr>
              <a:t>10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SF Pro Text"/>
              </a:rPr>
              <a:t> 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SF Pro Text"/>
              </a:rPr>
              <a:t># Number of the regression covariates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SF Pro Text"/>
              </a:rPr>
              <a:t> 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d=</a:t>
            </a:r>
            <a:r>
              <a:rPr lang="en-US" sz="2400" dirty="0">
                <a:solidFill>
                  <a:srgbClr val="990055"/>
                </a:solidFill>
                <a:latin typeface="SF Pro Text"/>
              </a:rPr>
              <a:t>3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SF Pro Text"/>
              </a:rPr>
              <a:t> </a:t>
            </a:r>
            <a:r>
              <a:rPr lang="en-US" sz="2400" b="0" i="0" dirty="0">
                <a:solidFill>
                  <a:srgbClr val="708090"/>
                </a:solidFill>
                <a:effectLst/>
                <a:latin typeface="SF Pro Text"/>
              </a:rPr>
              <a:t># Number of directions in the directional data</a:t>
            </a:r>
          </a:p>
          <a:p>
            <a:pPr algn="l"/>
            <a:r>
              <a:rPr lang="en-US" sz="2400" b="0" i="0" dirty="0">
                <a:solidFill>
                  <a:srgbClr val="FFFFFF"/>
                </a:solidFill>
                <a:effectLst/>
                <a:latin typeface="SF Pro Text"/>
              </a:rPr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35624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6A73B82-AC97-D5DE-085E-883757068A26}"/>
              </a:ext>
            </a:extLst>
          </p:cNvPr>
          <p:cNvSpPr/>
          <p:nvPr/>
        </p:nvSpPr>
        <p:spPr>
          <a:xfrm>
            <a:off x="666749" y="4057650"/>
            <a:ext cx="3505201" cy="926431"/>
          </a:xfrm>
          <a:prstGeom prst="rect">
            <a:avLst/>
          </a:prstGeom>
          <a:solidFill>
            <a:srgbClr val="AADF2E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B4D150-9F29-947A-1A9B-6C31B99B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259" y="139775"/>
            <a:ext cx="7729728" cy="392330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Generating Simulated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8513AB-3B6B-E828-4E8A-53206A22FEC7}"/>
              </a:ext>
            </a:extLst>
          </p:cNvPr>
          <p:cNvSpPr txBox="1"/>
          <p:nvPr/>
        </p:nvSpPr>
        <p:spPr>
          <a:xfrm>
            <a:off x="666749" y="634629"/>
            <a:ext cx="10663239" cy="2677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sz="2400" b="0" i="0" dirty="0" err="1">
                <a:effectLst/>
                <a:latin typeface="SF Pro Text"/>
              </a:rPr>
              <a:t>data_lst</a:t>
            </a:r>
            <a:r>
              <a:rPr lang="en-US" sz="2400" b="0" i="0" dirty="0">
                <a:effectLst/>
                <a:latin typeface="SF Pro Text"/>
              </a:rPr>
              <a:t> = </a:t>
            </a:r>
            <a:r>
              <a:rPr lang="en-US" sz="2400" b="0" i="0" dirty="0" err="1">
                <a:effectLst/>
                <a:latin typeface="SF Pro Text"/>
              </a:rPr>
              <a:t>Data_generator_vnf_reg_sparse</a:t>
            </a:r>
            <a:r>
              <a:rPr lang="en-US" sz="2400" b="0" i="0" dirty="0">
                <a:effectLst/>
                <a:latin typeface="SF Pro Text"/>
              </a:rPr>
              <a:t> (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n=n, </a:t>
            </a:r>
          </a:p>
          <a:p>
            <a:pPr lvl="5"/>
            <a:r>
              <a:rPr lang="en-US" sz="2400" dirty="0">
                <a:solidFill>
                  <a:srgbClr val="0070C0"/>
                </a:solidFill>
                <a:latin typeface="SF Pro Text"/>
              </a:rPr>
              <a:t>							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p=p, </a:t>
            </a:r>
          </a:p>
          <a:p>
            <a:pPr lvl="5"/>
            <a:r>
              <a:rPr lang="en-US" sz="2400" dirty="0">
                <a:solidFill>
                  <a:srgbClr val="0070C0"/>
                </a:solidFill>
                <a:latin typeface="SF Pro Text"/>
              </a:rPr>
              <a:t>							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d=d, </a:t>
            </a:r>
          </a:p>
          <a:p>
            <a:pPr lvl="5"/>
            <a:r>
              <a:rPr lang="en-US" sz="2400" dirty="0">
                <a:solidFill>
                  <a:srgbClr val="0070C0"/>
                </a:solidFill>
                <a:latin typeface="SF Pro Text"/>
              </a:rPr>
              <a:t>							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F Pro Text"/>
              </a:rPr>
              <a:t>SetUp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 = 2, </a:t>
            </a:r>
          </a:p>
          <a:p>
            <a:pPr lvl="5"/>
            <a:r>
              <a:rPr lang="en-US" sz="2400" dirty="0">
                <a:solidFill>
                  <a:srgbClr val="0070C0"/>
                </a:solidFill>
                <a:latin typeface="SF Pro Text"/>
              </a:rPr>
              <a:t>							</a:t>
            </a:r>
            <a:r>
              <a:rPr lang="en-US" sz="2400" b="0" i="0" dirty="0" err="1">
                <a:solidFill>
                  <a:srgbClr val="0070C0"/>
                </a:solidFill>
                <a:effectLst/>
                <a:latin typeface="SF Pro Text"/>
              </a:rPr>
              <a:t>NumOfNonZeroBeta</a:t>
            </a:r>
            <a:r>
              <a:rPr lang="en-US" sz="2400" b="0" i="0" dirty="0">
                <a:solidFill>
                  <a:srgbClr val="0070C0"/>
                </a:solidFill>
                <a:effectLst/>
                <a:latin typeface="SF Pro Text"/>
              </a:rPr>
              <a:t>=c(3, 3, 10)</a:t>
            </a:r>
            <a:r>
              <a:rPr lang="en-US" sz="2400" b="0" i="0" dirty="0">
                <a:effectLst/>
                <a:latin typeface="SF Pro Text"/>
              </a:rPr>
              <a:t>) 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Y = </a:t>
            </a:r>
            <a:r>
              <a:rPr lang="en-US" sz="2400" b="0" i="0" dirty="0" err="1">
                <a:effectLst/>
                <a:latin typeface="SF Pro Text"/>
              </a:rPr>
              <a:t>data_lst$Y</a:t>
            </a:r>
            <a:r>
              <a:rPr lang="en-US" sz="2400" b="0" i="0" dirty="0">
                <a:effectLst/>
                <a:latin typeface="SF Pro Text"/>
              </a:rPr>
              <a:t>;</a:t>
            </a:r>
          </a:p>
          <a:p>
            <a:pPr algn="l"/>
            <a:r>
              <a:rPr lang="en-US" sz="2400" b="0" i="0" dirty="0">
                <a:effectLst/>
                <a:latin typeface="SF Pro Text"/>
              </a:rPr>
              <a:t>X=</a:t>
            </a:r>
            <a:r>
              <a:rPr lang="en-US" sz="2400" b="0" i="0" dirty="0" err="1">
                <a:effectLst/>
                <a:latin typeface="SF Pro Text"/>
              </a:rPr>
              <a:t>data_lst$X</a:t>
            </a:r>
            <a:endParaRPr lang="en-US" sz="2400" b="0" i="0" dirty="0">
              <a:effectLst/>
              <a:latin typeface="SF Pro Tex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3C1138-1961-FE11-5432-1229792F6D08}"/>
              </a:ext>
            </a:extLst>
          </p:cNvPr>
          <p:cNvSpPr txBox="1"/>
          <p:nvPr/>
        </p:nvSpPr>
        <p:spPr>
          <a:xfrm>
            <a:off x="666749" y="3778355"/>
            <a:ext cx="37623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0070C0"/>
                </a:solidFill>
                <a:effectLst/>
                <a:latin typeface="SF Pro Text"/>
              </a:rPr>
              <a:t> [,1]                       [,2]            [,3]</a:t>
            </a:r>
          </a:p>
          <a:p>
            <a:r>
              <a:rPr lang="en-US" sz="1800" b="0" i="0" dirty="0">
                <a:solidFill>
                  <a:srgbClr val="0070C0"/>
                </a:solidFill>
                <a:effectLst/>
                <a:latin typeface="SF Pro Text"/>
              </a:rPr>
              <a:t>[1,] 6.863187 5.308869 9.037498</a:t>
            </a:r>
          </a:p>
          <a:p>
            <a:r>
              <a:rPr lang="en-US" sz="1800" b="0" i="0" dirty="0">
                <a:solidFill>
                  <a:srgbClr val="0070C0"/>
                </a:solidFill>
                <a:effectLst/>
                <a:latin typeface="SF Pro Text"/>
              </a:rPr>
              <a:t>[2,] 4.778856 8.798885 3.131229</a:t>
            </a:r>
          </a:p>
          <a:p>
            <a:r>
              <a:rPr lang="en-US" sz="1800" b="0" i="0" dirty="0">
                <a:solidFill>
                  <a:srgbClr val="0070C0"/>
                </a:solidFill>
                <a:effectLst/>
                <a:latin typeface="SF Pro Text"/>
              </a:rPr>
              <a:t>[3,] 7.162588 3.121234 3.196535</a:t>
            </a:r>
          </a:p>
          <a:p>
            <a:r>
              <a:rPr lang="en-US" sz="1800" b="0" i="0" dirty="0">
                <a:solidFill>
                  <a:srgbClr val="0070C0"/>
                </a:solidFill>
                <a:effectLst/>
                <a:latin typeface="SF Pro Text"/>
              </a:rPr>
              <a:t>[</a:t>
            </a:r>
            <a:r>
              <a:rPr lang="en-US" sz="1800" b="0" i="0" dirty="0">
                <a:solidFill>
                  <a:srgbClr val="FF0000"/>
                </a:solidFill>
                <a:effectLst/>
                <a:latin typeface="SF Pro Text"/>
              </a:rPr>
              <a:t>4,] 0.000000 0.000000 0.000000</a:t>
            </a:r>
          </a:p>
          <a:p>
            <a:r>
              <a:rPr lang="en-US" sz="1800" b="0" i="0" dirty="0">
                <a:solidFill>
                  <a:srgbClr val="FF0000"/>
                </a:solidFill>
                <a:effectLst/>
                <a:latin typeface="SF Pro Text"/>
              </a:rPr>
              <a:t>[5,] 0.000000 0.000000 0.000000</a:t>
            </a:r>
          </a:p>
          <a:p>
            <a:r>
              <a:rPr lang="en-US" sz="1800" b="0" i="0" dirty="0">
                <a:solidFill>
                  <a:srgbClr val="FF0000"/>
                </a:solidFill>
                <a:effectLst/>
                <a:latin typeface="SF Pro Text"/>
              </a:rPr>
              <a:t>[6,] 0.000000 0.000000 0.000000</a:t>
            </a:r>
          </a:p>
          <a:p>
            <a:r>
              <a:rPr lang="en-US" sz="1800" b="0" i="0" dirty="0">
                <a:solidFill>
                  <a:srgbClr val="FF0000"/>
                </a:solidFill>
                <a:effectLst/>
                <a:latin typeface="SF Pro Text"/>
              </a:rPr>
              <a:t>[7,] 0.000000 0.000000 0.000000</a:t>
            </a:r>
          </a:p>
          <a:p>
            <a:r>
              <a:rPr lang="en-US" sz="1800" b="0" i="0" dirty="0">
                <a:solidFill>
                  <a:srgbClr val="FF0000"/>
                </a:solidFill>
                <a:effectLst/>
                <a:latin typeface="SF Pro Text"/>
              </a:rPr>
              <a:t>[8,] 0.000000 0.000000 0.000000</a:t>
            </a:r>
            <a:r>
              <a:rPr lang="en-US" sz="1800" b="0" i="0" dirty="0">
                <a:solidFill>
                  <a:srgbClr val="0070C0"/>
                </a:solidFill>
                <a:effectLst/>
                <a:latin typeface="SF Pro Text"/>
              </a:rPr>
              <a:t> 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CAC437-3B63-F46D-096F-259117F556D3}"/>
              </a:ext>
            </a:extLst>
          </p:cNvPr>
          <p:cNvSpPr txBox="1"/>
          <p:nvPr/>
        </p:nvSpPr>
        <p:spPr>
          <a:xfrm>
            <a:off x="6643687" y="3991596"/>
            <a:ext cx="5457826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3200" b="0" i="0" dirty="0" err="1">
                <a:solidFill>
                  <a:srgbClr val="0070C0"/>
                </a:solidFill>
                <a:effectLst/>
                <a:latin typeface="SF Pro Text"/>
              </a:rPr>
              <a:t>NumOfNonZeroBeta</a:t>
            </a:r>
            <a:r>
              <a:rPr lang="en-US" sz="3200" b="0" i="0" dirty="0">
                <a:solidFill>
                  <a:srgbClr val="0070C0"/>
                </a:solidFill>
                <a:effectLst/>
                <a:latin typeface="SF Pro Text"/>
              </a:rPr>
              <a:t>=c(3, 3, 10)</a:t>
            </a:r>
            <a:endParaRPr lang="en-US" sz="3200" dirty="0"/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11BF7A5-6BCD-CD16-FB9D-D3D0D88D643A}"/>
              </a:ext>
            </a:extLst>
          </p:cNvPr>
          <p:cNvSpPr/>
          <p:nvPr/>
        </p:nvSpPr>
        <p:spPr>
          <a:xfrm>
            <a:off x="4152899" y="4514815"/>
            <a:ext cx="4366298" cy="926430"/>
          </a:xfrm>
          <a:prstGeom prst="diamond">
            <a:avLst/>
          </a:prstGeom>
          <a:solidFill>
            <a:srgbClr val="AAD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Only 3 nonzero</a:t>
            </a:r>
          </a:p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Each Column </a:t>
            </a:r>
          </a:p>
          <a:p>
            <a:pPr algn="ctr"/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Change it to get configuration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E76F2B49-917C-06A7-27FB-4974ABC14755}"/>
              </a:ext>
            </a:extLst>
          </p:cNvPr>
          <p:cNvSpPr/>
          <p:nvPr/>
        </p:nvSpPr>
        <p:spPr>
          <a:xfrm>
            <a:off x="6943730" y="5033535"/>
            <a:ext cx="4875092" cy="1189835"/>
          </a:xfrm>
          <a:prstGeom prst="diamond">
            <a:avLst/>
          </a:prstGeom>
          <a:solidFill>
            <a:srgbClr val="AAD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Nonzero elements are between3 and 10</a:t>
            </a:r>
          </a:p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Change it get other type of simulated 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910DFA1-D56A-3CA3-481A-B48D4F4EE8BB}"/>
                  </a:ext>
                </a:extLst>
              </p14:cNvPr>
              <p14:cNvContentPartPr/>
              <p14:nvPr/>
            </p14:nvContentPartPr>
            <p14:xfrm>
              <a:off x="11072542" y="4420980"/>
              <a:ext cx="746280" cy="377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910DFA1-D56A-3CA3-481A-B48D4F4EE8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63542" y="4412340"/>
                <a:ext cx="76392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A48039C-52A1-5073-7C18-FDF35FD19E47}"/>
                  </a:ext>
                </a:extLst>
              </p14:cNvPr>
              <p14:cNvContentPartPr/>
              <p14:nvPr/>
            </p14:nvContentPartPr>
            <p14:xfrm>
              <a:off x="9451462" y="4801860"/>
              <a:ext cx="2136960" cy="430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A48039C-52A1-5073-7C18-FDF35FD19E4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2462" y="4793220"/>
                <a:ext cx="215460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57D2DE1-65BF-BD84-85C4-36F5FCCA7FE2}"/>
                  </a:ext>
                </a:extLst>
              </p14:cNvPr>
              <p14:cNvContentPartPr/>
              <p14:nvPr/>
            </p14:nvContentPartPr>
            <p14:xfrm>
              <a:off x="9360022" y="5076180"/>
              <a:ext cx="358200" cy="193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57D2DE1-65BF-BD84-85C4-36F5FCCA7FE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51382" y="5067540"/>
                <a:ext cx="375840" cy="21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EC123DEC-C619-A670-9610-283B1BF3974A}"/>
              </a:ext>
            </a:extLst>
          </p:cNvPr>
          <p:cNvGrpSpPr/>
          <p:nvPr/>
        </p:nvGrpSpPr>
        <p:grpSpPr>
          <a:xfrm>
            <a:off x="3942742" y="4807260"/>
            <a:ext cx="3096360" cy="733320"/>
            <a:chOff x="3942742" y="4807260"/>
            <a:chExt cx="3096360" cy="73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A2F564-1446-027E-CDE9-5ED9689DE0D9}"/>
                    </a:ext>
                  </a:extLst>
                </p14:cNvPr>
                <p14:cNvContentPartPr/>
                <p14:nvPr/>
              </p14:nvContentPartPr>
              <p14:xfrm>
                <a:off x="3961462" y="4883220"/>
                <a:ext cx="3077640" cy="657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A2F564-1446-027E-CDE9-5ED9689DE0D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52462" y="4874580"/>
                  <a:ext cx="309528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06D6BDD-6D2F-7849-7FC8-87650CBA7955}"/>
                    </a:ext>
                  </a:extLst>
                </p14:cNvPr>
                <p14:cNvContentPartPr/>
                <p14:nvPr/>
              </p14:nvContentPartPr>
              <p14:xfrm>
                <a:off x="3942742" y="4807260"/>
                <a:ext cx="215640" cy="311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06D6BDD-6D2F-7849-7FC8-87650CBA795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33742" y="4798260"/>
                  <a:ext cx="233280" cy="328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08D57B9-1CDC-8471-0148-CDB99B163BE4}"/>
                  </a:ext>
                </a:extLst>
              </p14:cNvPr>
              <p14:cNvContentPartPr/>
              <p14:nvPr/>
            </p14:nvContentPartPr>
            <p14:xfrm>
              <a:off x="2125822" y="3688740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08D57B9-1CDC-8471-0148-CDB99B163BE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19702" y="368262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3DF73CF3-BA96-D0E4-F9CB-7C300BBFA5DF}"/>
              </a:ext>
            </a:extLst>
          </p:cNvPr>
          <p:cNvGrpSpPr/>
          <p:nvPr/>
        </p:nvGrpSpPr>
        <p:grpSpPr>
          <a:xfrm>
            <a:off x="7215862" y="4491180"/>
            <a:ext cx="3534480" cy="424800"/>
            <a:chOff x="7215862" y="4491180"/>
            <a:chExt cx="3534480" cy="4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0450B59-5D1B-5084-0ADC-1E073F002B26}"/>
                    </a:ext>
                  </a:extLst>
                </p14:cNvPr>
                <p14:cNvContentPartPr/>
                <p14:nvPr/>
              </p14:nvContentPartPr>
              <p14:xfrm>
                <a:off x="7221622" y="4491180"/>
                <a:ext cx="3528720" cy="376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0450B59-5D1B-5084-0ADC-1E073F002B2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215502" y="4485060"/>
                  <a:ext cx="35409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8CC8EC8-5202-D913-FF33-DD912AEAC967}"/>
                    </a:ext>
                  </a:extLst>
                </p14:cNvPr>
                <p14:cNvContentPartPr/>
                <p14:nvPr/>
              </p14:nvContentPartPr>
              <p14:xfrm>
                <a:off x="7215862" y="4779900"/>
                <a:ext cx="186120" cy="136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8CC8EC8-5202-D913-FF33-DD912AEAC96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09742" y="4773780"/>
                  <a:ext cx="19836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B94D431-04E0-B45A-2F2F-9899D0CF9D71}"/>
              </a:ext>
            </a:extLst>
          </p:cNvPr>
          <p:cNvGrpSpPr/>
          <p:nvPr/>
        </p:nvGrpSpPr>
        <p:grpSpPr>
          <a:xfrm>
            <a:off x="3957502" y="4383900"/>
            <a:ext cx="920520" cy="437040"/>
            <a:chOff x="3957502" y="4383900"/>
            <a:chExt cx="920520" cy="43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53443D0-67DD-C0A2-46F9-C1637167D192}"/>
                    </a:ext>
                  </a:extLst>
                </p14:cNvPr>
                <p14:cNvContentPartPr/>
                <p14:nvPr/>
              </p14:nvContentPartPr>
              <p14:xfrm>
                <a:off x="3980182" y="4437540"/>
                <a:ext cx="897840" cy="383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53443D0-67DD-C0A2-46F9-C1637167D19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74062" y="4431420"/>
                  <a:ext cx="91008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552045-2CA8-44E8-5F7E-69E203793A5E}"/>
                    </a:ext>
                  </a:extLst>
                </p14:cNvPr>
                <p14:cNvContentPartPr/>
                <p14:nvPr/>
              </p14:nvContentPartPr>
              <p14:xfrm>
                <a:off x="3957502" y="4383900"/>
                <a:ext cx="132840" cy="211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552045-2CA8-44E8-5F7E-69E203793A5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51382" y="4377780"/>
                  <a:ext cx="145080" cy="22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3760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D150-9F29-947A-1A9B-6C31B99B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345" y="111201"/>
            <a:ext cx="8655941" cy="345618"/>
          </a:xfrm>
        </p:spPr>
        <p:txBody>
          <a:bodyPr>
            <a:normAutofit fontScale="90000"/>
          </a:bodyPr>
          <a:lstStyle/>
          <a:p>
            <a:r>
              <a:rPr lang="en-US" dirty="0"/>
              <a:t>Running cross validation and plotting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D242DA-6161-266E-9628-6591B3B2CCE7}"/>
              </a:ext>
            </a:extLst>
          </p:cNvPr>
          <p:cNvSpPr txBox="1"/>
          <p:nvPr/>
        </p:nvSpPr>
        <p:spPr>
          <a:xfrm>
            <a:off x="481011" y="558555"/>
            <a:ext cx="11549064" cy="3416320"/>
          </a:xfrm>
          <a:prstGeom prst="rect">
            <a:avLst/>
          </a:prstGeom>
          <a:solidFill>
            <a:srgbClr val="FFFF00">
              <a:alpha val="56863"/>
            </a:srgb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2400" dirty="0" err="1">
                <a:latin typeface="SF Pro Text"/>
              </a:rPr>
              <a:t>Cv_object</a:t>
            </a:r>
            <a:r>
              <a:rPr lang="en-US" altLang="en-US" sz="2400" dirty="0">
                <a:latin typeface="SF Pro Text"/>
              </a:rPr>
              <a:t>&lt;-EM_BLASSO_Dir_regression_optimizer_V1.cv(Y=Y,</a:t>
            </a:r>
          </a:p>
          <a:p>
            <a:r>
              <a:rPr lang="en-US" altLang="en-US" sz="2400" dirty="0">
                <a:latin typeface="SF Pro Text"/>
              </a:rPr>
              <a:t>                                                         X=X,</a:t>
            </a:r>
          </a:p>
          <a:p>
            <a:r>
              <a:rPr lang="en-US" altLang="en-US" sz="2400" dirty="0">
                <a:latin typeface="SF Pro Text"/>
              </a:rPr>
              <a:t>                                                         </a:t>
            </a:r>
            <a:r>
              <a:rPr lang="en-US" altLang="en-US" sz="2400" dirty="0" err="1">
                <a:latin typeface="SF Pro Text"/>
              </a:rPr>
              <a:t>beta_init</a:t>
            </a:r>
            <a:r>
              <a:rPr lang="en-US" altLang="en-US" sz="2400" dirty="0">
                <a:latin typeface="SF Pro Text"/>
              </a:rPr>
              <a:t> = NULL,</a:t>
            </a:r>
          </a:p>
          <a:p>
            <a:r>
              <a:rPr lang="en-US" altLang="en-US" sz="2400" dirty="0">
                <a:latin typeface="SF Pro Text"/>
              </a:rPr>
              <a:t>                                                         </a:t>
            </a:r>
            <a:r>
              <a:rPr lang="en-US" altLang="en-US" sz="2400" dirty="0" err="1">
                <a:latin typeface="SF Pro Text"/>
              </a:rPr>
              <a:t>Max_EM_iter</a:t>
            </a:r>
            <a:r>
              <a:rPr lang="en-US" altLang="en-US" sz="2400" dirty="0">
                <a:latin typeface="SF Pro Text"/>
              </a:rPr>
              <a:t>=1000,</a:t>
            </a:r>
          </a:p>
          <a:p>
            <a:r>
              <a:rPr lang="en-US" altLang="en-US" sz="2400" dirty="0">
                <a:latin typeface="SF Pro Text"/>
              </a:rPr>
              <a:t>                                                         </a:t>
            </a:r>
            <a:r>
              <a:rPr lang="en-US" altLang="en-US" sz="2400" dirty="0" err="1">
                <a:latin typeface="SF Pro Text"/>
              </a:rPr>
              <a:t>cv_k_fold</a:t>
            </a:r>
            <a:r>
              <a:rPr lang="en-US" altLang="en-US" sz="2400" dirty="0">
                <a:latin typeface="SF Pro Text"/>
              </a:rPr>
              <a:t> = 10</a:t>
            </a:r>
            <a:r>
              <a:rPr lang="en-US" altLang="en-US" sz="1600" dirty="0">
                <a:latin typeface="SF Pro Text"/>
              </a:rPr>
              <a:t>,             </a:t>
            </a:r>
            <a:r>
              <a:rPr lang="en-US" altLang="en-US" sz="1600" dirty="0">
                <a:solidFill>
                  <a:srgbClr val="FF0000"/>
                </a:solidFill>
                <a:latin typeface="SF Pro Text"/>
              </a:rPr>
              <a:t># cross validation fold</a:t>
            </a:r>
            <a:endParaRPr lang="en-US" altLang="en-US" sz="2400" dirty="0">
              <a:solidFill>
                <a:srgbClr val="FF0000"/>
              </a:solidFill>
              <a:latin typeface="SF Pro Text"/>
            </a:endParaRPr>
          </a:p>
          <a:p>
            <a:r>
              <a:rPr lang="en-US" altLang="en-US" sz="2400" dirty="0">
                <a:latin typeface="SF Pro Text"/>
              </a:rPr>
              <a:t>                                                         </a:t>
            </a:r>
            <a:r>
              <a:rPr lang="en-US" altLang="en-US" sz="2400" dirty="0" err="1">
                <a:latin typeface="SF Pro Text"/>
              </a:rPr>
              <a:t>cv_lambda_n</a:t>
            </a:r>
            <a:r>
              <a:rPr lang="en-US" altLang="en-US" sz="2400" dirty="0">
                <a:latin typeface="SF Pro Text"/>
              </a:rPr>
              <a:t> = 50,  </a:t>
            </a:r>
            <a:r>
              <a:rPr lang="en-US" altLang="en-US" sz="1600" dirty="0">
                <a:solidFill>
                  <a:srgbClr val="FF0000"/>
                </a:solidFill>
                <a:latin typeface="SF Pro Text"/>
              </a:rPr>
              <a:t># number of lambda to test</a:t>
            </a:r>
            <a:endParaRPr lang="en-US" altLang="en-US" sz="2400" dirty="0">
              <a:solidFill>
                <a:srgbClr val="FF0000"/>
              </a:solidFill>
              <a:latin typeface="SF Pro Text"/>
            </a:endParaRPr>
          </a:p>
          <a:p>
            <a:r>
              <a:rPr lang="en-US" altLang="en-US" sz="2400" dirty="0">
                <a:latin typeface="SF Pro Text"/>
              </a:rPr>
              <a:t>                                                         </a:t>
            </a:r>
            <a:r>
              <a:rPr lang="en-US" altLang="en-US" sz="2400" dirty="0" err="1">
                <a:latin typeface="SF Pro Text"/>
              </a:rPr>
              <a:t>epsilon_lambda_range_min</a:t>
            </a:r>
            <a:r>
              <a:rPr lang="en-US" altLang="en-US" sz="2400" dirty="0">
                <a:latin typeface="SF Pro Text"/>
              </a:rPr>
              <a:t> = .001, </a:t>
            </a:r>
            <a:r>
              <a:rPr lang="en-US" altLang="en-US" sz="1400" dirty="0">
                <a:solidFill>
                  <a:srgbClr val="FF0000"/>
                </a:solidFill>
                <a:latin typeface="SF Pro Text"/>
              </a:rPr>
              <a:t># Ratio between min and max lambda</a:t>
            </a:r>
          </a:p>
          <a:p>
            <a:r>
              <a:rPr lang="en-US" altLang="en-US" sz="2400" dirty="0">
                <a:latin typeface="SF Pro Text"/>
              </a:rPr>
              <a:t>                                                         </a:t>
            </a:r>
            <a:r>
              <a:rPr lang="en-US" altLang="en-US" sz="2400" dirty="0" err="1">
                <a:latin typeface="SF Pro Text"/>
              </a:rPr>
              <a:t>lambda_Range_Type</a:t>
            </a:r>
            <a:r>
              <a:rPr lang="en-US" altLang="en-US" sz="2400" dirty="0">
                <a:latin typeface="SF Pro Text"/>
              </a:rPr>
              <a:t> = 2                    </a:t>
            </a:r>
          </a:p>
          <a:p>
            <a:r>
              <a:rPr lang="en-US" altLang="en-US" sz="2400" dirty="0">
                <a:latin typeface="SF Pro Text"/>
              </a:rPr>
              <a:t>                                                          )</a:t>
            </a:r>
            <a:endParaRPr lang="en-US" altLang="en-US" sz="28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C5AEC1-5B7A-7774-3C39-F51086823DF3}"/>
              </a:ext>
            </a:extLst>
          </p:cNvPr>
          <p:cNvSpPr txBox="1"/>
          <p:nvPr/>
        </p:nvSpPr>
        <p:spPr>
          <a:xfrm>
            <a:off x="481011" y="5260749"/>
            <a:ext cx="8120064" cy="1200329"/>
          </a:xfrm>
          <a:prstGeom prst="rect">
            <a:avLst/>
          </a:prstGeom>
          <a:solidFill>
            <a:srgbClr val="AADF2E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2400" dirty="0"/>
              <a:t>Library(ggplot2)</a:t>
            </a:r>
          </a:p>
          <a:p>
            <a:r>
              <a:rPr lang="en-US" altLang="en-US" sz="2400" dirty="0"/>
              <a:t>Library(</a:t>
            </a:r>
            <a:r>
              <a:rPr lang="en-US" altLang="en-US" sz="2400" dirty="0" err="1"/>
              <a:t>ggfx</a:t>
            </a:r>
            <a:r>
              <a:rPr lang="en-US" altLang="en-US" sz="2400" dirty="0"/>
              <a:t>)</a:t>
            </a:r>
          </a:p>
          <a:p>
            <a:r>
              <a:rPr lang="en-US" altLang="en-US" sz="2400" dirty="0" err="1"/>
              <a:t>plot.cv.Dir_Lasso_Reg_gg</a:t>
            </a:r>
            <a:r>
              <a:rPr lang="en-US" altLang="en-US" sz="2400" dirty="0"/>
              <a:t>(</a:t>
            </a:r>
            <a:r>
              <a:rPr lang="en-US" altLang="en-US" sz="2400" dirty="0" err="1">
                <a:latin typeface="SF Pro Text"/>
              </a:rPr>
              <a:t>Cv_object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color_theme</a:t>
            </a:r>
            <a:r>
              <a:rPr lang="en-US" altLang="en-US" sz="2400" dirty="0"/>
              <a:t> = 2)</a:t>
            </a:r>
            <a:endParaRPr lang="en-US" altLang="en-US" sz="2400" dirty="0">
              <a:latin typeface="SF Pro Tex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2B922-6DEF-ECFD-FD27-DEF1F7A6219A}"/>
              </a:ext>
            </a:extLst>
          </p:cNvPr>
          <p:cNvSpPr txBox="1"/>
          <p:nvPr/>
        </p:nvSpPr>
        <p:spPr>
          <a:xfrm>
            <a:off x="481011" y="4248480"/>
            <a:ext cx="6100762" cy="461665"/>
          </a:xfrm>
          <a:prstGeom prst="rect">
            <a:avLst/>
          </a:prstGeom>
          <a:solidFill>
            <a:srgbClr val="AADF2E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2400" dirty="0" err="1"/>
              <a:t>plot.cv.Dir_Lasso_Reg</a:t>
            </a:r>
            <a:r>
              <a:rPr lang="en-US" altLang="en-US" sz="2400" dirty="0"/>
              <a:t>(</a:t>
            </a:r>
            <a:r>
              <a:rPr lang="en-US" altLang="en-US" sz="2400" dirty="0" err="1">
                <a:latin typeface="SF Pro Text"/>
              </a:rPr>
              <a:t>Cv_object</a:t>
            </a:r>
            <a:r>
              <a:rPr lang="en-US" altLang="en-US" sz="2400" dirty="0"/>
              <a:t>)</a:t>
            </a:r>
            <a:endParaRPr lang="en-US" altLang="en-US" sz="2400" dirty="0">
              <a:latin typeface="SF Pro Text"/>
            </a:endParaRPr>
          </a:p>
        </p:txBody>
      </p:sp>
    </p:spTree>
    <p:extLst>
      <p:ext uri="{BB962C8B-B14F-4D97-AF65-F5344CB8AC3E}">
        <p14:creationId xmlns:p14="http://schemas.microsoft.com/office/powerpoint/2010/main" val="3602952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4D150-9F29-947A-1A9B-6C31B99BE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259" y="139776"/>
            <a:ext cx="7729728" cy="345618"/>
          </a:xfrm>
        </p:spPr>
        <p:txBody>
          <a:bodyPr>
            <a:normAutofit fontScale="90000"/>
          </a:bodyPr>
          <a:lstStyle/>
          <a:p>
            <a:r>
              <a:rPr lang="en-US" dirty="0"/>
              <a:t>Running the EM LASSO OPTIMIZER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F0746-4753-79A5-169A-E3A350B4AC16}"/>
              </a:ext>
            </a:extLst>
          </p:cNvPr>
          <p:cNvSpPr txBox="1"/>
          <p:nvPr/>
        </p:nvSpPr>
        <p:spPr>
          <a:xfrm>
            <a:off x="435764" y="1644764"/>
            <a:ext cx="11034713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SF Pro Text"/>
              </a:rPr>
              <a:t>betaEst1&lt;-EM_BLASSO_Dir_regression_optimizer_V1(Y = Y, X = X, </a:t>
            </a:r>
            <a:r>
              <a:rPr lang="en-US" altLang="en-US" sz="2400" dirty="0" err="1">
                <a:latin typeface="SF Pro Text"/>
              </a:rPr>
              <a:t>lasso_lambda</a:t>
            </a:r>
            <a:r>
              <a:rPr lang="en-US" altLang="en-US" sz="2400" dirty="0">
                <a:latin typeface="SF Pro Text"/>
              </a:rPr>
              <a:t> = </a:t>
            </a:r>
            <a:r>
              <a:rPr lang="en-US" altLang="en-US" sz="2400" dirty="0" err="1">
                <a:latin typeface="SF Pro Text"/>
              </a:rPr>
              <a:t>Cv_object</a:t>
            </a:r>
            <a:r>
              <a:rPr lang="en-US" altLang="en-US" sz="2400" dirty="0">
                <a:latin typeface="SF Pro Text"/>
              </a:rPr>
              <a:t> $</a:t>
            </a:r>
            <a:r>
              <a:rPr lang="en-US" altLang="en-US" sz="2400" dirty="0" err="1">
                <a:latin typeface="SF Pro Text"/>
              </a:rPr>
              <a:t>lambda.min</a:t>
            </a:r>
            <a:r>
              <a:rPr lang="en-US" altLang="en-US" sz="2400" dirty="0">
                <a:latin typeface="SF Pro Text"/>
              </a:rPr>
              <a:t>)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6E0B9D-FB4D-47C2-BCAB-6144B9A86A82}"/>
              </a:ext>
            </a:extLst>
          </p:cNvPr>
          <p:cNvSpPr txBox="1"/>
          <p:nvPr/>
        </p:nvSpPr>
        <p:spPr>
          <a:xfrm>
            <a:off x="435764" y="3219632"/>
            <a:ext cx="11034713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SF Pro Text"/>
              </a:rPr>
              <a:t>betaEst2&lt;-EM_BLASSO_Dir_regression_optimizer_V1(Y = Y, X = X, </a:t>
            </a:r>
            <a:r>
              <a:rPr lang="en-US" altLang="en-US" sz="2400" dirty="0" err="1">
                <a:latin typeface="SF Pro Text"/>
              </a:rPr>
              <a:t>lasso_lambda</a:t>
            </a:r>
            <a:r>
              <a:rPr lang="en-US" altLang="en-US" sz="2400" dirty="0">
                <a:latin typeface="SF Pro Text"/>
              </a:rPr>
              <a:t> = max(</a:t>
            </a:r>
            <a:r>
              <a:rPr lang="en-US" altLang="en-US" sz="2400" dirty="0" err="1">
                <a:latin typeface="SF Pro Text"/>
              </a:rPr>
              <a:t>Cv_object</a:t>
            </a:r>
            <a:r>
              <a:rPr lang="en-US" altLang="en-US" sz="2400" dirty="0">
                <a:latin typeface="SF Pro Text"/>
              </a:rPr>
              <a:t> $lambda.1se))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505A9-3B20-86FD-E686-8AB91B96D6EA}"/>
              </a:ext>
            </a:extLst>
          </p:cNvPr>
          <p:cNvSpPr txBox="1"/>
          <p:nvPr/>
        </p:nvSpPr>
        <p:spPr>
          <a:xfrm>
            <a:off x="1178718" y="4609834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800" dirty="0">
                <a:latin typeface="SF Pro Text"/>
              </a:rPr>
              <a:t>Checking number of zero elements in </a:t>
            </a:r>
            <a:r>
              <a:rPr lang="en-US" altLang="en-US" sz="1800" b="1" dirty="0">
                <a:latin typeface="SF Pro Text"/>
              </a:rPr>
              <a:t>betaEst1</a:t>
            </a:r>
            <a:r>
              <a:rPr lang="en-US" altLang="en-US" sz="1800" dirty="0">
                <a:latin typeface="SF Pro Text"/>
              </a:rPr>
              <a:t> and </a:t>
            </a:r>
            <a:r>
              <a:rPr lang="en-US" altLang="en-US" sz="1800" b="1" dirty="0">
                <a:latin typeface="SF Pro Text"/>
              </a:rPr>
              <a:t>betaEst2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4249024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{72881E9E-3999-C14C-94AE-EFC4CB632792}tf10001120</Template>
  <TotalTime>188</TotalTime>
  <Words>829</Words>
  <Application>Microsoft Macintosh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CircularXX-Regular</vt:lpstr>
      <vt:lpstr>Consolas</vt:lpstr>
      <vt:lpstr>Gill Sans MT</vt:lpstr>
      <vt:lpstr>SF Pro Text</vt:lpstr>
      <vt:lpstr>Parcel</vt:lpstr>
      <vt:lpstr>Instruction for  Installing the  R-Package ‘RBVNF’ for Bayesian Regression for Directional Responses</vt:lpstr>
      <vt:lpstr>Installing ‘RBVNF’ for GITHUB</vt:lpstr>
      <vt:lpstr>Install and Load the following Libraries</vt:lpstr>
      <vt:lpstr>PowerPoint Presentation</vt:lpstr>
      <vt:lpstr>Checking the Function</vt:lpstr>
      <vt:lpstr>Running the sampler</vt:lpstr>
      <vt:lpstr>PowerPoint Presentation</vt:lpstr>
      <vt:lpstr>Checking the Function</vt:lpstr>
      <vt:lpstr>Generating Simulated Data</vt:lpstr>
      <vt:lpstr>Running cross validation and plotting</vt:lpstr>
      <vt:lpstr>Running the EM LASSO OPTIMIZER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 Setup  Bayesian Regression for Directional Responses</dc:title>
  <dc:creator>Subhadip pal</dc:creator>
  <cp:lastModifiedBy>Subhadip Pal Pal</cp:lastModifiedBy>
  <cp:revision>16</cp:revision>
  <dcterms:created xsi:type="dcterms:W3CDTF">2024-02-05T17:04:39Z</dcterms:created>
  <dcterms:modified xsi:type="dcterms:W3CDTF">2025-03-30T14:56:12Z</dcterms:modified>
</cp:coreProperties>
</file>